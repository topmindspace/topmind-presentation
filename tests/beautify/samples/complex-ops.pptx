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 月</c:v>
                </c:pt>
                <c:pt idx="1">
                  <c:v>2 月</c:v>
                </c:pt>
                <c:pt idx="2">
                  <c:v>3 月</c:v>
                </c:pt>
                <c:pt idx="3">
                  <c:v>4 月</c:v>
                </c:pt>
                <c:pt idx="4">
                  <c:v>5 月</c:v>
                </c:pt>
                <c:pt idx="5">
                  <c:v>6 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</c:v>
                </c:pt>
                <c:pt idx="1">
                  <c:v>760</c:v>
                </c:pt>
                <c:pt idx="2">
                  <c:v>910</c:v>
                </c:pt>
                <c:pt idx="3">
                  <c:v>980</c:v>
                </c:pt>
                <c:pt idx="4">
                  <c:v>1040</c:v>
                </c:pt>
                <c:pt idx="5">
                  <c:v>1120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客流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 月</c:v>
                </c:pt>
                <c:pt idx="1">
                  <c:v>2 月</c:v>
                </c:pt>
                <c:pt idx="2">
                  <c:v>3 月</c:v>
                </c:pt>
                <c:pt idx="3">
                  <c:v>4 月</c:v>
                </c:pt>
                <c:pt idx="4">
                  <c:v>5 月</c:v>
                </c:pt>
                <c:pt idx="5">
                  <c:v>6 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28</c:v>
                </c:pt>
                <c:pt idx="2">
                  <c:v>34</c:v>
                </c:pt>
                <c:pt idx="3">
                  <c:v>36</c:v>
                </c:pt>
                <c:pt idx="4">
                  <c:v>38</c:v>
                </c:pt>
                <c:pt idx="5">
                  <c:v>41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坪效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 类</c:v>
                </c:pt>
                <c:pt idx="1">
                  <c:v>B 类</c:v>
                </c:pt>
                <c:pt idx="2">
                  <c:v>C 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5.2</c:v>
                </c:pt>
                <c:pt idx="1">
                  <c:v>3.8</c:v>
                </c:pt>
                <c:pt idx="2">
                  <c:v>2.1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门店结构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 类</c:v>
                </c:pt>
                <c:pt idx="1">
                  <c:v>B 类</c:v>
                </c:pt>
                <c:pt idx="2">
                  <c:v>C 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46</c:v>
                </c:pt>
                <c:pt idx="2">
                  <c:v>30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复购率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 类</c:v>
                </c:pt>
                <c:pt idx="1">
                  <c:v>B 类</c:v>
                </c:pt>
                <c:pt idx="2">
                  <c:v>C 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29</c:v>
                </c:pt>
                <c:pt idx="2">
                  <c:v>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达成率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华东</c:v>
                </c:pt>
                <c:pt idx="1">
                  <c:v>华南</c:v>
                </c:pt>
                <c:pt idx="2">
                  <c:v>华北</c:v>
                </c:pt>
                <c:pt idx="3">
                  <c:v>西南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106</c:v>
                </c:pt>
                <c:pt idx="1">
                  <c:v>97</c:v>
                </c:pt>
                <c:pt idx="2">
                  <c:v>92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两张图分别看钱和人。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达成率口径为年度目标的上半年分解值。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4400" b="1">
                <a:solidFill>
                  <a:srgbClr val="0040FF"/>
                </a:solidFill>
                <a:latin typeface="Arial"/>
              </a:rPr>
              <a:t>2026 年上半年门店运营复盘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>
                <a:solidFill>
                  <a:srgbClr val="F08000"/>
                </a:solidFill>
                <a:latin typeface="宋体"/>
              </a:rPr>
              <a:t>多图表 · 表格 · 现场照片 · 密集文字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latin typeface="宋体"/>
              </a:rPr>
              <a:t>运营管理部　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9020B0"/>
                </a:solidFill>
                <a:latin typeface="Arial"/>
              </a:rPr>
              <a:t>销售与客流双双回升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280160"/>
          <a:ext cx="42062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663440" y="1280160"/>
          <a:ext cx="420624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75488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0040FF"/>
                </a:solidFill>
                <a:latin typeface="宋体"/>
              </a:rPr>
              <a:t>销售额 6 月达到 1120 万元，环比增长 8%</a:t>
            </a:r>
          </a:p>
          <a:p>
            <a:pPr/>
            <a:r>
              <a:rPr sz="1600" b="0">
                <a:solidFill>
                  <a:srgbClr val="0040FF"/>
                </a:solidFill>
                <a:latin typeface="宋体"/>
              </a:rPr>
              <a:t>客流 6 月 41 万人次，连续四个月上升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10A030"/>
                </a:solidFill>
                <a:latin typeface="Arial"/>
              </a:rPr>
              <a:t>三个维度看门店健康度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1371600"/>
          <a:ext cx="2743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200400" y="1371600"/>
          <a:ext cx="274320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26480" y="1371600"/>
          <a:ext cx="2743200" cy="2926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57200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latin typeface="宋体"/>
              </a:rPr>
              <a:t>C 类门店坪效只有 A 类的四成</a:t>
            </a:r>
          </a:p>
          <a:p>
            <a:pPr/>
            <a:r>
              <a:rPr sz="1500" b="0">
                <a:latin typeface="宋体"/>
              </a:rPr>
              <a:t>复购率随门店等级递减</a:t>
            </a:r>
          </a:p>
          <a:p>
            <a:pPr/>
            <a:r>
              <a:rPr sz="1500" b="0">
                <a:latin typeface="宋体"/>
              </a:rPr>
              <a:t>B 类门店数量最多，是提升重点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F08000"/>
                </a:solidFill>
                <a:latin typeface="Arial"/>
              </a:rPr>
              <a:t>区域明细与达成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r>
                        <a:t>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门店数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销售额（万元）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达成率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华东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华南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华北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西南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394960" y="1371600"/>
          <a:ext cx="347472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846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01010"/>
                </a:solidFill>
                <a:latin typeface="宋体"/>
              </a:rPr>
              <a:t>西南区域达成率最低，门店密度不足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旗舰店改造现场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02336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37160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latin typeface="宋体"/>
              </a:rPr>
              <a:t>动线重排：收银台后移 6 米</a:t>
            </a:r>
          </a:p>
          <a:p>
            <a:pPr/>
            <a:r>
              <a:rPr sz="1400" b="0">
                <a:latin typeface="宋体"/>
              </a:rPr>
              <a:t>新增咖啡吧与休息区 40 平方米</a:t>
            </a:r>
          </a:p>
          <a:p>
            <a:pPr/>
            <a:r>
              <a:rPr sz="1400" b="0">
                <a:latin typeface="宋体"/>
              </a:rPr>
              <a:t>电子价签覆盖全部 2400 个 SKU</a:t>
            </a:r>
          </a:p>
          <a:p>
            <a:pPr/>
            <a:r>
              <a:rPr sz="1400" b="0">
                <a:latin typeface="宋体"/>
              </a:rPr>
              <a:t>自助收银 8 台，高峰排队缩短一半</a:t>
            </a:r>
          </a:p>
          <a:p>
            <a:pPr/>
            <a:r>
              <a:rPr sz="1400" b="0">
                <a:latin typeface="宋体"/>
              </a:rPr>
              <a:t>会员扫码入店，识别率 92%</a:t>
            </a:r>
          </a:p>
          <a:p>
            <a:pPr/>
            <a:r>
              <a:rPr sz="1400" b="0">
                <a:latin typeface="宋体"/>
              </a:rPr>
              <a:t>改造工期 21 天，未停业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下半年重点工作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latin typeface="宋体"/>
              </a:rPr>
              <a:t>一、C 类门店分批改造：9 月前完成 12 家，年底前再完成 18 家，改造标准沿用旗舰店方案并按面积分档</a:t>
            </a:r>
          </a:p>
          <a:p>
            <a:pPr/>
            <a:r>
              <a:rPr sz="1400" b="0">
                <a:latin typeface="宋体"/>
              </a:rPr>
              <a:t>二、会员运营：上线会员日与社群券，目标复购率从 29% 提升到 35%，每月复盘一次券核销与毛利</a:t>
            </a:r>
          </a:p>
          <a:p>
            <a:pPr/>
            <a:r>
              <a:rPr sz="1400" b="0">
                <a:latin typeface="宋体"/>
              </a:rPr>
              <a:t>三、供应链：华北、西南两个区域仓 10 月投用，生鲜损耗率从 4.1% 压到 3% 以内</a:t>
            </a:r>
          </a:p>
          <a:p>
            <a:pPr/>
            <a:r>
              <a:rPr sz="1400" b="0">
                <a:latin typeface="宋体"/>
              </a:rPr>
              <a:t>四、人员：店长轮岗制度覆盖全部 A 类门店，新店长培训周期从 6 周缩短到 4 周</a:t>
            </a:r>
          </a:p>
          <a:p>
            <a:pPr/>
            <a:r>
              <a:rPr sz="1400" b="0">
                <a:latin typeface="宋体"/>
              </a:rPr>
              <a:t>五、数字化：门店经营看板接入实时客流，异常波动 15 分钟内推送到区域经理</a:t>
            </a:r>
          </a:p>
          <a:p>
            <a:pPr/>
            <a:r>
              <a:rPr sz="1400" b="0">
                <a:latin typeface="宋体"/>
              </a:rPr>
              <a:t>六、预算：改造与数字化合计投入 3600 万元，预计 14 个月回本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>
                <a:latin typeface="宋体"/>
              </a:rPr>
              <a:t>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