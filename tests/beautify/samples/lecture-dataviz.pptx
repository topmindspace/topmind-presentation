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柱状图</c:v>
                </c:pt>
                <c:pt idx="1">
                  <c:v>折线图</c:v>
                </c:pt>
                <c:pt idx="2">
                  <c:v>饼图</c:v>
                </c:pt>
                <c:pt idx="3">
                  <c:v>条形图</c:v>
                </c:pt>
                <c:pt idx="4">
                  <c:v>散点图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31</c:v>
                </c:pt>
                <c:pt idx="2">
                  <c:v>27</c:v>
                </c:pt>
                <c:pt idx="3">
                  <c:v>15</c:v>
                </c:pt>
                <c:pt idx="4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4400" b="1">
                <a:solidFill>
                  <a:srgbClr val="0040FF"/>
                </a:solidFill>
                <a:latin typeface="Arial"/>
              </a:rPr>
              <a:t>数据可视化入门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F08000"/>
                </a:solidFill>
                <a:latin typeface="宋体"/>
              </a:rPr>
              <a:t>第 3 讲：选对图表，讲清一个结论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latin typeface="宋体"/>
              </a:rPr>
              <a:t>主讲：信息设计教研组　2026 年秋季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一、为什么要可视化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二、四类常用图表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三、制图四步法</a:t>
            </a:r>
          </a:p>
          <a:p>
            <a:pPr/>
            <a:r>
              <a:rPr sz="2800" b="0">
                <a:solidFill>
                  <a:srgbClr val="10A030"/>
                </a:solidFill>
                <a:latin typeface="宋体"/>
              </a:rPr>
              <a:t>四、常见误区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为什么要可视化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0040FF"/>
                </a:solidFill>
                <a:latin typeface="宋体"/>
              </a:rPr>
              <a:t>人眼对位置和长度的判断最准确</a:t>
            </a:r>
          </a:p>
          <a:p>
            <a:pPr/>
            <a:r>
              <a:rPr sz="2400" b="0">
                <a:solidFill>
                  <a:srgbClr val="0040FF"/>
                </a:solidFill>
                <a:latin typeface="宋体"/>
              </a:rPr>
              <a:t>同一组数据，表格要读 30 秒，柱状图只要 3 秒</a:t>
            </a:r>
          </a:p>
          <a:p>
            <a:pPr/>
            <a:r>
              <a:rPr sz="2400" b="0">
                <a:solidFill>
                  <a:srgbClr val="0040FF"/>
                </a:solidFill>
                <a:latin typeface="宋体"/>
              </a:rPr>
              <a:t>图表的任务是让读者一眼看到结论</a:t>
            </a:r>
          </a:p>
          <a:p>
            <a:pPr/>
            <a:r>
              <a:rPr sz="2400" b="0">
                <a:solidFill>
                  <a:srgbClr val="0040FF"/>
                </a:solidFill>
                <a:latin typeface="宋体"/>
              </a:rPr>
              <a:t>好图表 = 一个结论 + 最少的墨水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75488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四类常用图表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latin typeface="宋体"/>
              </a:rPr>
              <a:t>比较：柱状图、条形图</a:t>
            </a:r>
          </a:p>
          <a:p>
            <a:pPr/>
            <a:r>
              <a:rPr sz="2200" b="0">
                <a:latin typeface="宋体"/>
              </a:rPr>
              <a:t>趋势：折线图、面积图</a:t>
            </a:r>
          </a:p>
          <a:p>
            <a:pPr/>
            <a:r>
              <a:rPr sz="2200" b="0">
                <a:latin typeface="宋体"/>
              </a:rPr>
              <a:t>构成：饼图、堆叠柱</a:t>
            </a:r>
          </a:p>
          <a:p>
            <a:pPr/>
            <a:r>
              <a:rPr sz="2200" b="0">
                <a:latin typeface="宋体"/>
              </a:rPr>
              <a:t>分布：直方图、箱线图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制图四步法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E01010"/>
                </a:solidFill>
                <a:latin typeface="宋体"/>
              </a:rPr>
              <a:t>1. 明确结论</a:t>
            </a:r>
          </a:p>
          <a:p>
            <a:pPr/>
            <a:r>
              <a:rPr sz="2000" b="0">
                <a:solidFill>
                  <a:srgbClr val="E01010"/>
                </a:solidFill>
                <a:latin typeface="宋体"/>
              </a:rPr>
              <a:t>先写下这张图要说的一句话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10A030"/>
                </a:solidFill>
                <a:latin typeface="宋体"/>
              </a:rPr>
              <a:t>2. 选择图表</a:t>
            </a:r>
          </a:p>
          <a:p>
            <a:pPr/>
            <a:r>
              <a:rPr sz="1600" b="0">
                <a:solidFill>
                  <a:srgbClr val="10A030"/>
                </a:solidFill>
                <a:latin typeface="宋体"/>
              </a:rPr>
              <a:t>按比较、趋势、构成、分布选型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0">
                <a:solidFill>
                  <a:srgbClr val="0040FF"/>
                </a:solidFill>
                <a:latin typeface="宋体"/>
              </a:rPr>
              <a:t>3. 去掉干扰</a:t>
            </a:r>
          </a:p>
          <a:p>
            <a:pPr/>
            <a:r>
              <a:rPr sz="2400" b="0">
                <a:solidFill>
                  <a:srgbClr val="0040FF"/>
                </a:solidFill>
                <a:latin typeface="宋体"/>
              </a:rPr>
              <a:t>删网格、删阴影、删 3D 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384048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0">
                <a:solidFill>
                  <a:srgbClr val="F08000"/>
                </a:solidFill>
                <a:latin typeface="宋体"/>
              </a:rPr>
              <a:t>4. 突出重点</a:t>
            </a:r>
          </a:p>
          <a:p>
            <a:pPr/>
            <a:r>
              <a:rPr sz="1800" b="0">
                <a:solidFill>
                  <a:srgbClr val="F08000"/>
                </a:solidFill>
                <a:latin typeface="宋体"/>
              </a:rPr>
              <a:t>只给关键数据上强调色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9020B0"/>
                </a:solidFill>
                <a:latin typeface="Arial"/>
              </a:rPr>
              <a:t>课堂调查：最常用的图表类型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56692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09360" y="146304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E01010"/>
                </a:solidFill>
                <a:latin typeface="宋体"/>
              </a:rPr>
              <a:t>共回收问卷 125 份</a:t>
            </a:r>
          </a:p>
          <a:p>
            <a:pPr/>
            <a:r>
              <a:rPr sz="1600" b="0">
                <a:solidFill>
                  <a:srgbClr val="E01010"/>
                </a:solidFill>
                <a:latin typeface="宋体"/>
              </a:rPr>
              <a:t>柱状图最受欢迎</a:t>
            </a:r>
          </a:p>
          <a:p>
            <a:pPr/>
            <a:r>
              <a:rPr sz="1600" b="0">
                <a:solidFill>
                  <a:srgbClr val="E01010"/>
                </a:solidFill>
                <a:latin typeface="宋体"/>
              </a:rPr>
              <a:t>散点图使用最少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常见误区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0">
                <a:solidFill>
                  <a:srgbClr val="E01010"/>
                </a:solidFill>
                <a:latin typeface="宋体"/>
              </a:rPr>
              <a:t>饼图切成十几块，谁也看不清</a:t>
            </a:r>
          </a:p>
          <a:p>
            <a:pPr/>
            <a:r>
              <a:rPr sz="2600" b="0">
                <a:solidFill>
                  <a:srgbClr val="E01010"/>
                </a:solidFill>
                <a:latin typeface="宋体"/>
              </a:rPr>
              <a:t>纵轴不从 0 开始，夸大差异</a:t>
            </a:r>
          </a:p>
          <a:p>
            <a:pPr/>
            <a:r>
              <a:rPr sz="2600" b="0">
                <a:solidFill>
                  <a:srgbClr val="E01010"/>
                </a:solidFill>
                <a:latin typeface="宋体"/>
              </a:rPr>
              <a:t>一张图塞五种颜色</a:t>
            </a:r>
          </a:p>
          <a:p>
            <a:pPr/>
            <a:r>
              <a:rPr sz="2600" b="0">
                <a:solidFill>
                  <a:srgbClr val="E01010"/>
                </a:solidFill>
                <a:latin typeface="宋体"/>
              </a:rPr>
              <a:t>用 3D 效果装饰数据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E01010"/>
                </a:solidFill>
                <a:latin typeface="Arial"/>
              </a:rP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latin typeface="宋体"/>
              </a:rPr>
              <a:t>课后作业：用柱状图重画一张你见过的糟糕图表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