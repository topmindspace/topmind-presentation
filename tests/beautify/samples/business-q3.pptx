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年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7 月</c:v>
                </c:pt>
                <c:pt idx="1">
                  <c:v>8 月</c:v>
                </c:pt>
                <c:pt idx="2">
                  <c:v>9 月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8200</c:v>
                </c:pt>
                <c:pt idx="1">
                  <c:v>8900</c:v>
                </c:pt>
                <c:pt idx="2">
                  <c:v>9300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年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7 月</c:v>
                </c:pt>
                <c:pt idx="1">
                  <c:v>8 月</c:v>
                </c:pt>
                <c:pt idx="2">
                  <c:v>9 月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9800</c:v>
                </c:pt>
                <c:pt idx="1">
                  <c:v>10600</c:v>
                </c:pt>
                <c:pt idx="2">
                  <c:v>11600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占比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直销</c:v>
                </c:pt>
                <c:pt idx="1">
                  <c:v>经销</c:v>
                </c:pt>
                <c:pt idx="2">
                  <c:v>线上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52</c:v>
                </c:pt>
                <c:pt idx="1">
                  <c:v>30</c:v>
                </c:pt>
                <c:pt idx="2">
                  <c:v>18</c:v>
                </c:pt>
              </c:numCache>
            </c:numRef>
          </c:val>
        </c:ser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4400" b="1">
                <a:solidFill>
                  <a:srgbClr val="0040FF"/>
                </a:solidFill>
                <a:latin typeface="Arial"/>
              </a:rPr>
              <a:t>2026 年三季度经营汇报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0">
                <a:solidFill>
                  <a:srgbClr val="F08000"/>
                </a:solidFill>
                <a:latin typeface="宋体"/>
              </a:rPr>
              <a:t>华东区域销售中心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latin typeface="宋体"/>
              </a:rPr>
              <a:t>汇报人：经营分析部　2026-10-10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600" b="1">
                <a:solidFill>
                  <a:srgbClr val="E01010"/>
                </a:solidFill>
                <a:latin typeface="Arial"/>
              </a:rP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0">
                <a:solidFill>
                  <a:srgbClr val="10A030"/>
                </a:solidFill>
                <a:latin typeface="宋体"/>
              </a:rPr>
              <a:t>核心指标</a:t>
            </a:r>
          </a:p>
          <a:p>
            <a:pPr/>
            <a:r>
              <a:rPr sz="2800" b="0">
                <a:solidFill>
                  <a:srgbClr val="10A030"/>
                </a:solidFill>
                <a:latin typeface="宋体"/>
              </a:rPr>
              <a:t>月度营收</a:t>
            </a:r>
          </a:p>
          <a:p>
            <a:pPr/>
            <a:r>
              <a:rPr sz="2800" b="0">
                <a:solidFill>
                  <a:srgbClr val="10A030"/>
                </a:solidFill>
                <a:latin typeface="宋体"/>
              </a:rPr>
              <a:t>渠道结构</a:t>
            </a:r>
          </a:p>
          <a:p>
            <a:pPr/>
            <a:r>
              <a:rPr sz="2800" b="0">
                <a:solidFill>
                  <a:srgbClr val="10A030"/>
                </a:solidFill>
                <a:latin typeface="宋体"/>
              </a:rPr>
              <a:t>区域表现</a:t>
            </a:r>
          </a:p>
          <a:p>
            <a:pPr/>
            <a:r>
              <a:rPr sz="2800" b="0">
                <a:solidFill>
                  <a:srgbClr val="10A030"/>
                </a:solidFill>
                <a:latin typeface="宋体"/>
              </a:rPr>
              <a:t>问题与下一步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600" b="1">
                <a:solidFill>
                  <a:srgbClr val="E01010"/>
                </a:solidFill>
                <a:latin typeface="Arial"/>
              </a:rPr>
              <a:t>核心指标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200" b="0">
                <a:solidFill>
                  <a:srgbClr val="0040FF"/>
                </a:solidFill>
                <a:latin typeface="宋体"/>
              </a:rPr>
              <a:t>营收 3.2 亿元</a:t>
            </a:r>
          </a:p>
          <a:p>
            <a:pPr/>
            <a:r>
              <a:rPr sz="3200" b="0">
                <a:solidFill>
                  <a:srgbClr val="0040FF"/>
                </a:solidFill>
                <a:latin typeface="宋体"/>
              </a:rPr>
              <a:t>同比增长 18%</a:t>
            </a:r>
          </a:p>
          <a:p>
            <a:pPr/>
            <a:r>
              <a:rPr sz="3200" b="0">
                <a:solidFill>
                  <a:srgbClr val="0040FF"/>
                </a:solidFill>
                <a:latin typeface="宋体"/>
              </a:rPr>
              <a:t>毛利率 34.5%</a:t>
            </a:r>
          </a:p>
          <a:p>
            <a:pPr/>
            <a:r>
              <a:rPr sz="3200" b="0">
                <a:solidFill>
                  <a:srgbClr val="0040FF"/>
                </a:solidFill>
                <a:latin typeface="宋体"/>
              </a:rPr>
              <a:t>新客户 126 家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600" b="1">
                <a:solidFill>
                  <a:srgbClr val="9020B0"/>
                </a:solidFill>
                <a:latin typeface="Arial"/>
              </a:rPr>
              <a:t>三季度月度营收（万元）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280160"/>
          <a:ext cx="822960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600" b="1">
                <a:solidFill>
                  <a:srgbClr val="9020B0"/>
                </a:solidFill>
                <a:latin typeface="Arial"/>
              </a:rPr>
              <a:t>渠道营收占比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280160"/>
          <a:ext cx="566928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309360" y="1463040"/>
            <a:ext cx="2651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 b="0">
                <a:solidFill>
                  <a:srgbClr val="E01010"/>
                </a:solidFill>
                <a:latin typeface="宋体"/>
              </a:rPr>
              <a:t>线上渠道占比首次超过 15%</a:t>
            </a:r>
          </a:p>
          <a:p>
            <a:pPr/>
            <a:r>
              <a:rPr sz="1600" b="0">
                <a:solidFill>
                  <a:srgbClr val="E01010"/>
                </a:solidFill>
                <a:latin typeface="宋体"/>
              </a:rPr>
              <a:t>经销渠道同比下降 4 个百分点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600" b="1">
                <a:solidFill>
                  <a:srgbClr val="10A030"/>
                </a:solidFill>
                <a:latin typeface="Arial"/>
              </a:rPr>
              <a:t>区域表现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57200">
                <a:tc>
                  <a:txBody>
                    <a:bodyPr/>
                    <a:lstStyle/>
                    <a:p>
                      <a:r>
                        <a:t>区域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营收（万元）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同比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完成率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上海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12800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+21%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104%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江苏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+15%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98%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浙江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+19%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101%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安徽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+9%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87%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 b="0">
                <a:solidFill>
                  <a:srgbClr val="F08000"/>
                </a:solidFill>
                <a:latin typeface="宋体"/>
              </a:rPr>
              <a:t>安徽区域完成率低于 90%，需要重点跟进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600" b="1">
                <a:solidFill>
                  <a:srgbClr val="E01010"/>
                </a:solidFill>
                <a:latin typeface="Arial"/>
              </a:rPr>
              <a:t>存在的问题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E01010"/>
                </a:solidFill>
                <a:latin typeface="宋体"/>
              </a:rPr>
              <a:t>安徽区域新客户开发偏慢</a:t>
            </a:r>
          </a:p>
          <a:p>
            <a:pPr/>
            <a:r>
              <a:rPr sz="2200" b="0">
                <a:solidFill>
                  <a:srgbClr val="E01010"/>
                </a:solidFill>
                <a:latin typeface="宋体"/>
              </a:rPr>
              <a:t>9 月回款周期拉长到 52 天</a:t>
            </a:r>
          </a:p>
          <a:p>
            <a:pPr lvl="1"/>
            <a:r>
              <a:rPr sz="1800" b="0">
                <a:solidFill>
                  <a:srgbClr val="E01010"/>
                </a:solidFill>
                <a:latin typeface="宋体"/>
              </a:rPr>
              <a:t>其中经销渠道回款 61 天</a:t>
            </a:r>
          </a:p>
          <a:p>
            <a:pPr/>
            <a:r>
              <a:rPr sz="2200" b="0">
                <a:solidFill>
                  <a:srgbClr val="E01010"/>
                </a:solidFill>
                <a:latin typeface="宋体"/>
              </a:rPr>
              <a:t>线上渠道客服响应超时较多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600" b="1">
                <a:solidFill>
                  <a:srgbClr val="E01010"/>
                </a:solidFill>
                <a:latin typeface="Arial"/>
              </a:rPr>
              <a:t>下一步工作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10A030"/>
                </a:solidFill>
                <a:latin typeface="宋体"/>
              </a:rPr>
              <a:t>十月底前完成安徽区域渠道复盘</a:t>
            </a:r>
          </a:p>
          <a:p>
            <a:pPr/>
            <a:r>
              <a:rPr sz="2200" b="0">
                <a:solidFill>
                  <a:srgbClr val="10A030"/>
                </a:solidFill>
                <a:latin typeface="宋体"/>
              </a:rPr>
              <a:t>回款周期压回 45 天以内</a:t>
            </a:r>
          </a:p>
          <a:p>
            <a:pPr/>
            <a:r>
              <a:rPr sz="2200" b="0">
                <a:solidFill>
                  <a:srgbClr val="10A030"/>
                </a:solidFill>
                <a:latin typeface="宋体"/>
              </a:rPr>
              <a:t>线上客服增配 6 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600" b="1">
                <a:solidFill>
                  <a:srgbClr val="E01010"/>
                </a:solidFill>
                <a:latin typeface="Arial"/>
              </a:rPr>
              <a:t>谢谢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0">
                <a:latin typeface="宋体"/>
              </a:rPr>
              <a:t>欢迎批评指正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