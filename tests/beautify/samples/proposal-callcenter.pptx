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预算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软件平台</c:v>
                </c:pt>
                <c:pt idx="1">
                  <c:v>硬件设备</c:v>
                </c:pt>
                <c:pt idx="2">
                  <c:v>实施服务</c:v>
                </c:pt>
                <c:pt idx="3">
                  <c:v>培训运营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380</c:v>
                </c:pt>
                <c:pt idx="1">
                  <c:v>120</c:v>
                </c:pt>
                <c:pt idx="2">
                  <c:v>210</c:v>
                </c:pt>
                <c:pt idx="3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4400" b="1">
                <a:solidFill>
                  <a:srgbClr val="0040FF"/>
                </a:solidFill>
                <a:latin typeface="Arial"/>
              </a:rPr>
              <a:t>客服中心智能化改造方案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>
                <a:solidFill>
                  <a:srgbClr val="F08000"/>
                </a:solidFill>
                <a:latin typeface="宋体"/>
              </a:rPr>
              <a:t>从人工坐席到人机协同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latin typeface="宋体"/>
              </a:rPr>
              <a:t>信息技术部　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0">
                <a:solidFill>
                  <a:srgbClr val="10A030"/>
                </a:solidFill>
                <a:latin typeface="宋体"/>
              </a:rPr>
              <a:t>现状与问题</a:t>
            </a:r>
          </a:p>
          <a:p>
            <a:pPr/>
            <a:r>
              <a:rPr sz="2800" b="0">
                <a:solidFill>
                  <a:srgbClr val="10A030"/>
                </a:solidFill>
                <a:latin typeface="宋体"/>
              </a:rPr>
              <a:t>改造目标</a:t>
            </a:r>
          </a:p>
          <a:p>
            <a:pPr/>
            <a:r>
              <a:rPr sz="2800" b="0">
                <a:solidFill>
                  <a:srgbClr val="10A030"/>
                </a:solidFill>
                <a:latin typeface="宋体"/>
              </a:rPr>
              <a:t>总体架构</a:t>
            </a:r>
          </a:p>
          <a:p>
            <a:pPr/>
            <a:r>
              <a:rPr sz="2800" b="0">
                <a:solidFill>
                  <a:srgbClr val="10A030"/>
                </a:solidFill>
                <a:latin typeface="宋体"/>
              </a:rPr>
              <a:t>实施计划</a:t>
            </a:r>
          </a:p>
          <a:p>
            <a:pPr/>
            <a:r>
              <a:rPr sz="2800" b="0">
                <a:solidFill>
                  <a:srgbClr val="10A030"/>
                </a:solidFill>
                <a:latin typeface="宋体"/>
              </a:rPr>
              <a:t>投入预算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现状与问题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latin typeface="宋体"/>
              </a:rPr>
              <a:t>日均来电 1.8 万通，高峰排队超过 6 分钟</a:t>
            </a:r>
          </a:p>
          <a:p>
            <a:pPr/>
            <a:r>
              <a:rPr sz="2000" b="0">
                <a:latin typeface="宋体"/>
              </a:rPr>
              <a:t>70% 的问题属于重复咨询</a:t>
            </a:r>
          </a:p>
          <a:p>
            <a:pPr/>
            <a:r>
              <a:rPr sz="2000" b="0">
                <a:latin typeface="宋体"/>
              </a:rPr>
              <a:t>坐席流失率 28%，培训周期 3 周</a:t>
            </a:r>
          </a:p>
          <a:p>
            <a:pPr/>
            <a:r>
              <a:rPr sz="2000" b="0">
                <a:latin typeface="宋体"/>
              </a:rPr>
              <a:t>知识库分散在 4 个系统中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改造目标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0">
                <a:solidFill>
                  <a:srgbClr val="0040FF"/>
                </a:solidFill>
                <a:latin typeface="宋体"/>
              </a:rPr>
              <a:t>自助解决率从 22% 提升到 55%</a:t>
            </a:r>
          </a:p>
          <a:p>
            <a:pPr/>
            <a:r>
              <a:rPr sz="2800" b="0">
                <a:solidFill>
                  <a:srgbClr val="0040FF"/>
                </a:solidFill>
                <a:latin typeface="宋体"/>
              </a:rPr>
              <a:t>平均等待时间降到 60 秒以内</a:t>
            </a:r>
          </a:p>
          <a:p>
            <a:pPr/>
            <a:r>
              <a:rPr sz="2800" b="0">
                <a:solidFill>
                  <a:srgbClr val="0040FF"/>
                </a:solidFill>
                <a:latin typeface="宋体"/>
              </a:rPr>
              <a:t>坐席人均处理量提升 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E01010"/>
                </a:solidFill>
                <a:latin typeface="宋体"/>
              </a:rPr>
              <a:t>渠道层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46304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latin typeface="宋体"/>
              </a:rPr>
              <a:t>电话　在线客服　小程序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1089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E01010"/>
                </a:solidFill>
                <a:latin typeface="宋体"/>
              </a:rPr>
              <a:t>能力层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310896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latin typeface="宋体"/>
              </a:rPr>
              <a:t>语音识别　意图理解　知识检索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548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E01010"/>
                </a:solidFill>
                <a:latin typeface="宋体"/>
              </a:rPr>
              <a:t>数据层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75488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latin typeface="宋体"/>
              </a:rPr>
              <a:t>统一知识库　工单系统　客户画像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10A030"/>
                </a:solidFill>
                <a:latin typeface="Arial"/>
              </a:rPr>
              <a:t>实施计划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主要工作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一期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 年 11 月—12 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知识库整合与智能问答上线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二期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2027 年 1 月—3 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语音机器人接入电话渠道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三期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2027 年 4 月—6 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坐席辅助与质检全面推广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9020B0"/>
                </a:solidFill>
                <a:latin typeface="Arial"/>
              </a:rPr>
              <a:t>投入预算（万元）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56692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309360" y="1463040"/>
            <a:ext cx="2651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E01010"/>
                </a:solidFill>
                <a:latin typeface="宋体"/>
              </a:rPr>
              <a:t>合计 800 万元</a:t>
            </a:r>
          </a:p>
          <a:p>
            <a:pPr/>
            <a:r>
              <a:rPr sz="1600" b="0">
                <a:solidFill>
                  <a:srgbClr val="E01010"/>
                </a:solidFill>
                <a:latin typeface="宋体"/>
              </a:rPr>
              <a:t>软件平台占比最高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>
                <a:latin typeface="宋体"/>
              </a:rPr>
              <a:t>请各位领导审议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