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年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8200</c:v>
                </c:pt>
                <c:pt idx="1">
                  <c:v>8900</c:v>
                </c:pt>
                <c:pt idx="2">
                  <c:v>9300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年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9800</c:v>
                </c:pt>
                <c:pt idx="1">
                  <c:v>10600</c:v>
                </c:pt>
                <c:pt idx="2">
                  <c:v>11600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直销</c:v>
                </c:pt>
                <c:pt idx="1">
                  <c:v>经销</c:v>
                </c:pt>
                <c:pt idx="2">
                  <c:v>线上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30</c:v>
                </c:pt>
                <c:pt idx="2">
                  <c:v>18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秒，先报总数。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月含国庆前备货，环比偏高。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会后发送完整数据表。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400" b="1">
                <a:solidFill>
                  <a:srgbClr val="0040FF"/>
                </a:solidFill>
                <a:latin typeface="Arial"/>
              </a:rPr>
              <a:t>2026 年三季度经营汇报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08000"/>
                </a:solidFill>
                <a:latin typeface="宋体"/>
              </a:rPr>
              <a:t>华东区域销售中心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汇报人：经营分析部　2026-10-10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核心指标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月度营收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渠道结构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区域表现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问题与下一步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核心指标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200" b="0">
                <a:solidFill>
                  <a:srgbClr val="0040FF"/>
                </a:solidFill>
                <a:latin typeface="宋体"/>
              </a:rPr>
              <a:t>营收 3.2 亿元</a:t>
            </a:r>
          </a:p>
          <a:p>
            <a:pPr/>
            <a:r>
              <a:rPr sz="3200" b="0">
                <a:solidFill>
                  <a:srgbClr val="0040FF"/>
                </a:solidFill>
                <a:latin typeface="宋体"/>
              </a:rPr>
              <a:t>同比增长 18%</a:t>
            </a:r>
          </a:p>
          <a:p>
            <a:pPr/>
            <a:r>
              <a:rPr sz="3200" b="0">
                <a:solidFill>
                  <a:srgbClr val="0040FF"/>
                </a:solidFill>
                <a:latin typeface="宋体"/>
              </a:rPr>
              <a:t>毛利率 34.5%</a:t>
            </a:r>
          </a:p>
          <a:p>
            <a:pPr/>
            <a:r>
              <a:rPr sz="3200" b="0">
                <a:solidFill>
                  <a:srgbClr val="0040FF"/>
                </a:solidFill>
                <a:latin typeface="宋体"/>
              </a:rPr>
              <a:t>新客户 126 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9020B0"/>
                </a:solidFill>
                <a:latin typeface="Arial"/>
              </a:rPr>
              <a:t>三季度月度营收（万元）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9020B0"/>
                </a:solidFill>
                <a:latin typeface="Arial"/>
              </a:rPr>
              <a:t>渠道营收占比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0" y="146304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线上渠道占比首次超过 15%</a:t>
            </a:r>
          </a:p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经销渠道同比下降 4 个百分点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10A030"/>
                </a:solidFill>
                <a:latin typeface="Arial"/>
              </a:rPr>
              <a:t>区域表现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营收（万元）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江苏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安徽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F08000"/>
                </a:solidFill>
                <a:latin typeface="宋体"/>
              </a:rPr>
              <a:t>安徽区域完成率低于 90%，需要重点跟进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存在的问题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E01010"/>
                </a:solidFill>
                <a:latin typeface="宋体"/>
              </a:rPr>
              <a:t>安徽区域新客户开发偏慢</a:t>
            </a:r>
          </a:p>
          <a:p>
            <a:pPr/>
            <a:r>
              <a:rPr sz="2200" b="0">
                <a:solidFill>
                  <a:srgbClr val="E01010"/>
                </a:solidFill>
                <a:latin typeface="宋体"/>
              </a:rPr>
              <a:t>9 月回款周期拉长到 52 天</a:t>
            </a:r>
          </a:p>
          <a:p>
            <a:pPr lvl="1"/>
            <a:r>
              <a:rPr sz="1800" b="0">
                <a:solidFill>
                  <a:srgbClr val="E01010"/>
                </a:solidFill>
                <a:latin typeface="宋体"/>
              </a:rPr>
              <a:t>其中经销渠道回款 61 天</a:t>
            </a:r>
          </a:p>
          <a:p>
            <a:pPr/>
            <a:r>
              <a:rPr sz="2200" b="0">
                <a:solidFill>
                  <a:srgbClr val="E01010"/>
                </a:solidFill>
                <a:latin typeface="宋体"/>
              </a:rPr>
              <a:t>线上渠道客服响应超时较多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下一步工作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10A030"/>
                </a:solidFill>
                <a:latin typeface="宋体"/>
              </a:rPr>
              <a:t>十月底前完成安徽区域渠道复盘</a:t>
            </a:r>
          </a:p>
          <a:p>
            <a:pPr/>
            <a:r>
              <a:rPr sz="2200" b="0">
                <a:solidFill>
                  <a:srgbClr val="10A030"/>
                </a:solidFill>
                <a:latin typeface="宋体"/>
              </a:rPr>
              <a:t>回款周期压回 45 天以内</a:t>
            </a:r>
          </a:p>
          <a:p>
            <a:pPr/>
            <a:r>
              <a:rPr sz="2200" b="0">
                <a:solidFill>
                  <a:srgbClr val="10A030"/>
                </a:solidFill>
                <a:latin typeface="宋体"/>
              </a:rPr>
              <a:t>线上客服增配 6 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latin typeface="宋体"/>
              </a:rP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